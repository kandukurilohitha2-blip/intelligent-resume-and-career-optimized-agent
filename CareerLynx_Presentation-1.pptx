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name, the tagline, and that the LLM layer runs on Groq (Llama 3.3 70B). Add team, guide and college details.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the 75% ATS statistic (cite it if your examiner asks). Objective: agent-based architecture that optimizes the resume and produces a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Orchestrator on Groq controls four sub-agents, each with its own tool. Covers: Groq LLM, agent-based, multi-agent, multiple tools, external APIs,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agent uses at least one tool. Mention Adzuna for jobs and YouTube for learning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ReAct: the agent reasons about the next step, acts with a tool, observes, and repeats. Memory = conversation buffer + ChromaDB vector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try/except blocks and retry decorator from your code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Groq agent initialization: ChatGroq with Llama 3.3 70B, wrapped with a LangGraph ReAct agent and the four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each test case, then update the Result column with the real outcome and measured ATS 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the live demo here. Replace 42% and 94% with the actual before/after scores from your run, and add the deployed demo link as a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requirements covered, documentation available, future scope.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GROQ  ·  LLAMA 3.3 70B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14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CAREERLYNX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Resume and Career Optimized Agent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Resume Rejection to Career Selection — Powered by Agentic AI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3657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V. Padma priya (TL)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Bindu Bhavani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Lohitha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Sravani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Smily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60320" cy="2560320"/>
          </a:xfrm>
          <a:prstGeom prst="ellipse">
            <a:avLst/>
          </a:prstGeom>
          <a:solidFill>
            <a:srgbClr val="8B5CF6">
              <a:alpha val="20000"/>
            </a:srgbClr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554480"/>
            <a:ext cx="1828800" cy="1828800"/>
          </a:xfrm>
          <a:prstGeom prst="ellipse">
            <a:avLst/>
          </a:prstGeom>
          <a:solidFill>
            <a:srgbClr val="1B1B45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11680"/>
            <a:ext cx="914400" cy="9144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897880" y="3246120"/>
            <a:ext cx="548640" cy="5486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013" y="3394253"/>
            <a:ext cx="252374" cy="25237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046720" y="1005840"/>
            <a:ext cx="548640" cy="5486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853" y="1153973"/>
            <a:ext cx="252374" cy="2523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Objective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554480"/>
          </a:xfrm>
          <a:prstGeom prst="roundRect">
            <a:avLst>
              <a:gd name="adj" fmla="val 8824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resumes fail ATS screening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977640" cy="1554480"/>
          </a:xfrm>
          <a:prstGeom prst="roundRect">
            <a:avLst>
              <a:gd name="adj" fmla="val 8824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108960"/>
            <a:ext cx="640080" cy="64008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342" y="3281782"/>
            <a:ext cx="294437" cy="29443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3063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personalized career guidance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38404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advice, no roadmap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3977640" cy="3291840"/>
          </a:xfrm>
          <a:prstGeom prst="roundRect">
            <a:avLst>
              <a:gd name="adj" fmla="val 4167"/>
            </a:avLst>
          </a:prstGeom>
          <a:solidFill>
            <a:srgbClr val="2A1B5E">
              <a:alpha val="7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2920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0" y="1691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agent-based system that optimizes the resume and builds a career roadmap</a:t>
            </a:r>
            <a:endParaRPr lang="en-US" sz="1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044952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9496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resume for ATS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45643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94960" y="342900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skill gaps from live jobs</a:t>
            </a:r>
            <a:endParaRPr lang="en-US" sz="14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867912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394960" y="3840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learning plan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743200" y="914400"/>
            <a:ext cx="3657600" cy="731520"/>
          </a:xfrm>
          <a:prstGeom prst="roundRect">
            <a:avLst>
              <a:gd name="adj" fmla="val 18750"/>
            </a:avLst>
          </a:prstGeom>
          <a:solidFill>
            <a:srgbClr val="3B1F8F">
              <a:alpha val="90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743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Agent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743200" y="12984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 ·  Llama 3.3 70B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64592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1920240"/>
            <a:ext cx="6309360" cy="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192024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1920240" cy="1325880"/>
          </a:xfrm>
          <a:prstGeom prst="roundRect">
            <a:avLst>
              <a:gd name="adj" fmla="val 10345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1580" y="2286000"/>
            <a:ext cx="411480" cy="41148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680" y="2397100"/>
            <a:ext cx="189281" cy="189281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4864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Agent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→ structured data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417320" y="3520440"/>
            <a:ext cx="0" cy="182880"/>
          </a:xfrm>
          <a:prstGeom prst="line">
            <a:avLst/>
          </a:prstGeom>
          <a:noFill/>
          <a:ln w="19050">
            <a:solidFill>
              <a:srgbClr val="3B82F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703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3B82F6">
              <a:alpha val="2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30352" y="37033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PyPDF + Resume Parser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520440" y="192024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560320" y="2194560"/>
            <a:ext cx="1920240" cy="1325880"/>
          </a:xfrm>
          <a:prstGeom prst="roundRect">
            <a:avLst>
              <a:gd name="adj" fmla="val 10345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14700" y="2286000"/>
            <a:ext cx="411480" cy="4114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800" y="2397100"/>
            <a:ext cx="189281" cy="18928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65176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Optimizer Agent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265176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rewrite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3520440" y="3520440"/>
            <a:ext cx="0" cy="182880"/>
          </a:xfrm>
          <a:prstGeom prst="line">
            <a:avLst/>
          </a:prstGeom>
          <a:noFill/>
          <a:ln w="19050">
            <a:solidFill>
              <a:srgbClr val="8B5CF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2560320" y="3703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2633472" y="37033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Keyword Extractor + RAG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5623560" y="192024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63440" y="2194560"/>
            <a:ext cx="1920240" cy="1325880"/>
          </a:xfrm>
          <a:prstGeom prst="roundRect">
            <a:avLst>
              <a:gd name="adj" fmla="val 10345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17820" y="2286000"/>
            <a:ext cx="411480" cy="41148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8920" y="2397100"/>
            <a:ext cx="189281" cy="189281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475488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Skill-Gap &amp; Market Agent</a:t>
            </a:r>
            <a:endParaRPr lang="en-US" sz="1200" dirty="0"/>
          </a:p>
        </p:txBody>
      </p:sp>
      <p:sp>
        <p:nvSpPr>
          <p:cNvPr id="31" name="Text 26"/>
          <p:cNvSpPr txBox="1"/>
          <p:nvPr/>
        </p:nvSpPr>
        <p:spPr>
          <a:xfrm>
            <a:off x="475488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demand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5623560" y="3520440"/>
            <a:ext cx="0" cy="182880"/>
          </a:xfrm>
          <a:prstGeom prst="line">
            <a:avLst/>
          </a:prstGeom>
          <a:noFill/>
          <a:ln w="19050">
            <a:solidFill>
              <a:srgbClr val="C084FC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663440" y="3703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C084FC">
              <a:alpha val="25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736592" y="37033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Adzuna Jobs API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726680" y="1920240"/>
            <a:ext cx="0" cy="27432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6766560" y="2194560"/>
            <a:ext cx="1920240" cy="1325880"/>
          </a:xfrm>
          <a:prstGeom prst="roundRect">
            <a:avLst>
              <a:gd name="adj" fmla="val 10345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7520940" y="2286000"/>
            <a:ext cx="411480" cy="41148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2040" y="2397100"/>
            <a:ext cx="189281" cy="189281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6858000" y="2743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Roadmap Agent</a:t>
            </a:r>
            <a:endParaRPr lang="en-US" sz="1200" dirty="0"/>
          </a:p>
        </p:txBody>
      </p:sp>
      <p:sp>
        <p:nvSpPr>
          <p:cNvPr id="40" name="Text 34"/>
          <p:cNvSpPr txBox="1"/>
          <p:nvPr/>
        </p:nvSpPr>
        <p:spPr>
          <a:xfrm>
            <a:off x="685800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plan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7726680" y="3520440"/>
            <a:ext cx="0" cy="182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6766560" y="3703320"/>
            <a:ext cx="1920240" cy="548640"/>
          </a:xfrm>
          <a:prstGeom prst="roundRect">
            <a:avLst>
              <a:gd name="adj" fmla="val 16667"/>
            </a:avLst>
          </a:prstGeom>
          <a:solidFill>
            <a:srgbClr val="22D3EE">
              <a:alpha val="25000"/>
            </a:srgbClr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6839712" y="37033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YouTube API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 ·  Multiple tools  ·  External APIs  ·  RAG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 &amp; Tools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1600200"/>
          </a:xfrm>
          <a:prstGeom prst="roundRect">
            <a:avLst>
              <a:gd name="adj" fmla="val 8571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777240" cy="7772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375" y="17186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Parser Tool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Parser Agent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09160" y="1097280"/>
            <a:ext cx="3977640" cy="1600200"/>
          </a:xfrm>
          <a:prstGeom prst="roundRect">
            <a:avLst>
              <a:gd name="adj" fmla="val 8571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508760"/>
            <a:ext cx="777240" cy="7772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335" y="171861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989320" y="1417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 Tool (ChromaDB)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98932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ATS Optimizer Agent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7200" y="2880360"/>
            <a:ext cx="3977640" cy="1600200"/>
          </a:xfrm>
          <a:prstGeom prst="roundRect">
            <a:avLst>
              <a:gd name="adj" fmla="val 8571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1520" y="3291840"/>
            <a:ext cx="777240" cy="77724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375" y="3501695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73736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 API Tool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73736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Skill-Gap &amp; Market Agent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709160" y="2880360"/>
            <a:ext cx="3977640" cy="1600200"/>
          </a:xfrm>
          <a:prstGeom prst="roundRect">
            <a:avLst>
              <a:gd name="adj" fmla="val 8571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983480" y="3291840"/>
            <a:ext cx="777240" cy="7772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335" y="3501695"/>
            <a:ext cx="357530" cy="3575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893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 API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98932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Career Roadmap Agent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&amp; Planning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 ·  ReAct workflow (Reason + Act)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463040" cy="822960"/>
          </a:xfrm>
          <a:prstGeom prst="roundRect">
            <a:avLst>
              <a:gd name="adj" fmla="val 16667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965960" y="1673352"/>
            <a:ext cx="18288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371600"/>
            <a:ext cx="1463040" cy="822960"/>
          </a:xfrm>
          <a:prstGeom prst="roundRect">
            <a:avLst>
              <a:gd name="adj" fmla="val 16667"/>
            </a:avLst>
          </a:prstGeom>
          <a:solidFill>
            <a:srgbClr val="2A1B5E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148840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14884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0" y="1673352"/>
            <a:ext cx="18288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1371600"/>
            <a:ext cx="1463040" cy="822960"/>
          </a:xfrm>
          <a:prstGeom prst="roundRect">
            <a:avLst>
              <a:gd name="adj" fmla="val 16667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40480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Jobs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49240" y="1673352"/>
            <a:ext cx="18288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32120" y="1371600"/>
            <a:ext cx="1463040" cy="822960"/>
          </a:xfrm>
          <a:prstGeom prst="roundRect">
            <a:avLst>
              <a:gd name="adj" fmla="val 16667"/>
            </a:avLst>
          </a:prstGeom>
          <a:solidFill>
            <a:srgbClr val="2A1B5E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32120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040880" y="1673352"/>
            <a:ext cx="18288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1371600"/>
            <a:ext cx="1463040" cy="822960"/>
          </a:xfrm>
          <a:prstGeom prst="roundRect">
            <a:avLst>
              <a:gd name="adj" fmla="val 16667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23760" y="14447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1691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2971800"/>
            <a:ext cx="3977640" cy="1417320"/>
          </a:xfrm>
          <a:prstGeom prst="roundRect">
            <a:avLst>
              <a:gd name="adj" fmla="val 9677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3337560"/>
            <a:ext cx="685800" cy="6858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86" y="3522726"/>
            <a:ext cx="315468" cy="31546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64592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Buffer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64592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current chat context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709160" y="2971800"/>
            <a:ext cx="3977640" cy="1417320"/>
          </a:xfrm>
          <a:prstGeom prst="roundRect">
            <a:avLst>
              <a:gd name="adj" fmla="val 9677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983480" y="3337560"/>
            <a:ext cx="685800" cy="6858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646" y="3522726"/>
            <a:ext cx="315468" cy="31546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5897880" y="3246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 Memory</a:t>
            </a:r>
            <a:endParaRPr lang="en-US" sz="1600" dirty="0"/>
          </a:p>
        </p:txBody>
      </p:sp>
      <p:sp>
        <p:nvSpPr>
          <p:cNvPr id="33" name="Text 29"/>
          <p:cNvSpPr txBox="1"/>
          <p:nvPr/>
        </p:nvSpPr>
        <p:spPr>
          <a:xfrm>
            <a:off x="5897880" y="3657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Recalls past resumes &amp; queries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Handling &amp; Robustness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457200" cy="45720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1357884"/>
            <a:ext cx="210312" cy="2103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0972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PDF upload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06240" y="1353312"/>
            <a:ext cx="36576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0" y="109728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file, friendly error message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103120"/>
            <a:ext cx="457200" cy="45720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222656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19659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rate limit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206240" y="2221992"/>
            <a:ext cx="36576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0" y="19659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with exponential backoff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297180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309524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371600" y="28346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job found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4206240" y="3090672"/>
            <a:ext cx="36576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754880" y="2834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back to general role skills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8750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3963924"/>
            <a:ext cx="210312" cy="21031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37033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ATS score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4206240" y="3959352"/>
            <a:ext cx="365760" cy="219456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754880" y="3703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rewrite + improvement tips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+ retry on every tool call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&amp; Tech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530352"/>
          </a:xfrm>
          <a:prstGeom prst="roundRect">
            <a:avLst>
              <a:gd name="adj" fmla="val 2586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09728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0972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React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4023360" cy="530352"/>
          </a:xfrm>
          <a:prstGeom prst="roundRect">
            <a:avLst>
              <a:gd name="adj" fmla="val 2586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73736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LangChain + LangGraph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4023360" cy="530352"/>
          </a:xfrm>
          <a:prstGeom prst="roundRect">
            <a:avLst>
              <a:gd name="adj" fmla="val 2586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37744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237744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(Llama 3.3 70B)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530352"/>
          </a:xfrm>
          <a:prstGeom prst="roundRect">
            <a:avLst>
              <a:gd name="adj" fmla="val 2586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0175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023360" cy="530352"/>
          </a:xfrm>
          <a:prstGeom prst="roundRect">
            <a:avLst>
              <a:gd name="adj" fmla="val 2586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65760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365760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· Adzuna Jobs · YouTube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931920" cy="3090672"/>
          </a:xfrm>
          <a:prstGeom prst="roundRect">
            <a:avLst>
              <a:gd name="adj" fmla="val 3550"/>
            </a:avLst>
          </a:prstGeom>
          <a:solidFill>
            <a:srgbClr val="070716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8348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agent.py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983480" y="15544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langchain_groq import ChatGroq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 = ChatGroq(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model="llama-3.3-70b-versatile",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temperature=0.2,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= create_react_agent(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llm, tools=[pdf, rag, jobs, yt]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Testing: Multiple Test Cases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377440"/>
                <a:gridCol w="365760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1D9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Fresher CSE resume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ATS score improves (e.g. 45% → 90%)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Corrupted PDF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error message shown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Non-IT resume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Relevant roadmap still generated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TC4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job-role query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5F7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 retrieves the correct skills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3D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43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“Pending” with Pass / Fail after running each test.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Demo &amp;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377440" cy="1737360"/>
          </a:xfrm>
          <a:prstGeom prst="roundRect">
            <a:avLst>
              <a:gd name="adj" fmla="val 7895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828800"/>
            <a:ext cx="274320" cy="274320"/>
          </a:xfrm>
          <a:prstGeom prst="rightArrow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097280"/>
            <a:ext cx="2377440" cy="1737360"/>
          </a:xfrm>
          <a:prstGeom prst="roundRect">
            <a:avLst>
              <a:gd name="adj" fmla="val 7895"/>
            </a:avLst>
          </a:prstGeom>
          <a:solidFill>
            <a:srgbClr val="0E3B3F">
              <a:alpha val="75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5544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423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score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3154680"/>
            <a:ext cx="457200" cy="4572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5004" y="3278124"/>
            <a:ext cx="210312" cy="210312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4864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resume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240280" y="306324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315468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084" y="3278124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33172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cover letter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023360" y="3063240"/>
            <a:ext cx="1645920" cy="1143000"/>
          </a:xfrm>
          <a:prstGeom prst="roundRect">
            <a:avLst>
              <a:gd name="adj" fmla="val 12000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17720" y="3154680"/>
            <a:ext cx="457200" cy="45720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164" y="3278124"/>
            <a:ext cx="210312" cy="21031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4114800" y="36576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roadmap + YouTube links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035040" y="1097280"/>
            <a:ext cx="2651760" cy="3108960"/>
          </a:xfrm>
          <a:prstGeom prst="roundRect">
            <a:avLst>
              <a:gd name="adj" fmla="val 5172"/>
            </a:avLst>
          </a:prstGeom>
          <a:solidFill>
            <a:srgbClr val="0F0F2B">
              <a:alpha val="75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1554480"/>
            <a:ext cx="1188720" cy="118872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035040" y="2926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QR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035040" y="3291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your QR code here]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values shown. Replace with results from your own run.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34440"/>
            <a:ext cx="502920" cy="50292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88" y="1370228"/>
            <a:ext cx="231343" cy="23134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requirements met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Agentic, multi-tool, RAG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234440"/>
            <a:ext cx="502920" cy="50292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0508" y="1370228"/>
            <a:ext cx="231343" cy="23134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1480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Doc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35040" y="1051560"/>
            <a:ext cx="2651760" cy="2103120"/>
          </a:xfrm>
          <a:prstGeom prst="roundRect">
            <a:avLst>
              <a:gd name="adj" fmla="val 6522"/>
            </a:avLst>
          </a:prstGeom>
          <a:solidFill>
            <a:srgbClr val="1B1B45">
              <a:alpha val="75000"/>
            </a:srgbClr>
          </a:solidFill>
          <a:ln w="12700">
            <a:solidFill>
              <a:srgbClr val="3D3D8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234440"/>
            <a:ext cx="502920" cy="502920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9428" y="1370228"/>
            <a:ext cx="231343" cy="23134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03720" y="12344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19202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Interview Agent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Auto-Apply Agent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429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 questions ready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CAREERLYNX</dc:title>
  <dc:subject>PptxGenJS Presentation</dc:subject>
  <dc:creator>PptxGenJS</dc:creator>
  <cp:lastModifiedBy>PptxGenJS</cp:lastModifiedBy>
  <cp:revision>1</cp:revision>
  <dcterms:created xsi:type="dcterms:W3CDTF">2026-09-30T09:27:16Z</dcterms:created>
  <dcterms:modified xsi:type="dcterms:W3CDTF">2026-09-30T09:27:16Z</dcterms:modified>
</cp:coreProperties>
</file>